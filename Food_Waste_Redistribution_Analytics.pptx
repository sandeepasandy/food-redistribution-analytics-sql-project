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72A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2372A"/>
                </a:solidFill>
                <a:latin typeface="Calibri"/>
              </a:rPr>
              <a:t>Stock held vs capacity (units)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 held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Central</c:v>
                  </c:pt>
                  <c:pt idx="1">
                    <c:v>North</c:v>
                  </c:pt>
                  <c:pt idx="2">
                    <c:v>Community Hub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800</c:v>
                </c:pt>
                <c:pt idx="1">
                  <c:v>350</c:v>
                </c:pt>
                <c:pt idx="2">
                  <c:v>220</c:v>
                </c:pt>
                <c:pt idx="3">
                  <c:v>430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Capacity</c:v>
                </c:pt>
              </c:strCache>
            </c:strRef>
          </c:tx>
          <c:spPr>
            <a:solidFill>
              <a:srgbClr val="C9D8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Central</c:v>
                  </c:pt>
                  <c:pt idx="1">
                    <c:v>North</c:v>
                  </c:pt>
                  <c:pt idx="2">
                    <c:v>Community Hub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1000</c:v>
                </c:pt>
                <c:pt idx="1">
                  <c:v>800</c:v>
                </c:pt>
                <c:pt idx="2">
                  <c:v>600</c:v>
                </c:pt>
                <c:pt idx="3">
                  <c:v>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B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2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72A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2372A"/>
                </a:solidFill>
                <a:latin typeface="Calibri"/>
              </a:rPr>
              <a:t>Donated vs distributed by food item (units)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Donated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Rice</c:v>
                  </c:pt>
                  <c:pt idx="1">
                    <c:v>Wheat</c:v>
                  </c:pt>
                  <c:pt idx="2">
                    <c:v>Veg Curry</c:v>
                  </c:pt>
                  <c:pt idx="3">
                    <c:v>Bread</c:v>
                  </c:pt>
                  <c:pt idx="4">
                    <c:v>Fruits</c:v>
                  </c:pt>
                  <c:pt idx="5">
                    <c:v>Dal</c:v>
                  </c:pt>
                  <c:pt idx="6">
                    <c:v>Biscuits</c:v>
                  </c:pt>
                  <c:pt idx="7">
                    <c:v>Milk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500</c:v>
                </c:pt>
                <c:pt idx="1">
                  <c:v>150</c:v>
                </c:pt>
                <c:pt idx="2">
                  <c:v>100</c:v>
                </c:pt>
                <c:pt idx="3">
                  <c:v>80</c:v>
                </c:pt>
                <c:pt idx="4">
                  <c:v>100</c:v>
                </c:pt>
                <c:pt idx="5">
                  <c:v>200</c:v>
                </c:pt>
                <c:pt idx="6">
                  <c:v>120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Distributed</c:v>
                </c:pt>
              </c:strCache>
            </c:strRef>
          </c:tx>
          <c:spPr>
            <a:solidFill>
              <a:srgbClr val="E88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Rice</c:v>
                  </c:pt>
                  <c:pt idx="1">
                    <c:v>Wheat</c:v>
                  </c:pt>
                  <c:pt idx="2">
                    <c:v>Veg Curry</c:v>
                  </c:pt>
                  <c:pt idx="3">
                    <c:v>Bread</c:v>
                  </c:pt>
                  <c:pt idx="4">
                    <c:v>Fruits</c:v>
                  </c:pt>
                  <c:pt idx="5">
                    <c:v>Dal</c:v>
                  </c:pt>
                  <c:pt idx="6">
                    <c:v>Biscuits</c:v>
                  </c:pt>
                  <c:pt idx="7">
                    <c:v>Milk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150</c:v>
                </c:pt>
                <c:pt idx="1">
                  <c:v>40</c:v>
                </c:pt>
                <c:pt idx="2">
                  <c:v>20</c:v>
                </c:pt>
                <c:pt idx="3">
                  <c:v>25</c:v>
                </c:pt>
                <c:pt idx="4">
                  <c:v>55</c:v>
                </c:pt>
                <c:pt idx="5">
                  <c:v>50</c:v>
                </c:pt>
                <c:pt idx="6">
                  <c:v>20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B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2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FAO figure is a widely cited global estimate. The project is a small-scale database answer to a real logistics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Chen-style ER diagram of the implemented database. The cardinality summary in the corner lists all 8 relationships.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Stock quantities come from the FOOD_ITEMS table, grouped by category. Total stock is 1,800 units.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28.8% = 360 distributed / 1,250 donated. Based on the sample data in the SQL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1D4D3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RDBMS DATA ANALYTICS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Waste Redistribution Analytics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donors, food stock, collection centers, volunteers, recipients and distribution, with ER design and SQL methodology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846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1389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&amp; SQL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4846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51389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(8 Relational Tables)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4846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VOLUME ANALYZED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51389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1,250 Units Donated | 360 Distributed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Surplus food is wasted while people go hungry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12372A"/>
          </a:solidFill>
          <a:ln w="12700">
            <a:solidFill>
              <a:srgbClr val="123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1/3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83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food produced for people is lost or wasted worldwide (FAO estimate)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72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Restaurants, hotels, caterers and supermarkets often have edible surplus, but no organised way to route it before it expires.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55448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783080"/>
            <a:ext cx="594360" cy="59436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1929384"/>
            <a:ext cx="301752" cy="30175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80060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impact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2834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orphanages, old age homes, shelters and poor families with safe surplus food.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0" y="155448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58200" y="1783080"/>
            <a:ext cx="594360" cy="59436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504" y="192938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45820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impact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8458200" y="2834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edible food out of landfills, cutting waste and the emissions it causes.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572000" y="393192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800600" y="4160520"/>
            <a:ext cx="594360" cy="59436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4306824"/>
            <a:ext cx="301752" cy="30175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800600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 value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4800600" y="5212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reduce disposal cost; charities reduce what they must buy.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229600" y="393192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458200" y="4160520"/>
            <a:ext cx="594360" cy="59436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504" y="4306824"/>
            <a:ext cx="301752" cy="30175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458200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Accountability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8458200" y="5212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donation and distribution is recorded, so food can be traced end to end.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food moves through the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2377440" cy="2286000"/>
          </a:xfrm>
          <a:prstGeom prst="roundRect">
            <a:avLst>
              <a:gd name="adj" fmla="val 4000"/>
            </a:avLst>
          </a:prstGeom>
          <a:solidFill>
            <a:srgbClr val="E3EFDD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1783080"/>
            <a:ext cx="731520" cy="73152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9659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Donors donate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063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DONORS, DONATIONS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063240" y="2514600"/>
            <a:ext cx="320040" cy="320040"/>
          </a:xfrm>
          <a:prstGeom prst="rightArrow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554480"/>
            <a:ext cx="2377440" cy="2286000"/>
          </a:xfrm>
          <a:prstGeom prst="roundRect">
            <a:avLst>
              <a:gd name="adj" fmla="val 4000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97680" y="1783080"/>
            <a:ext cx="731520" cy="73152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9659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6616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Centers store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611880" y="3063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COLLECTION_CENTERS, FOOD_ITEMS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943600" y="2514600"/>
            <a:ext cx="320040" cy="320040"/>
          </a:xfrm>
          <a:prstGeom prst="rightArrow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55080" y="1554480"/>
            <a:ext cx="2377440" cy="2286000"/>
          </a:xfrm>
          <a:prstGeom prst="roundRect">
            <a:avLst>
              <a:gd name="adj" fmla="val 4000"/>
            </a:avLst>
          </a:prstGeom>
          <a:solidFill>
            <a:srgbClr val="E3EFDD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78040" y="1783080"/>
            <a:ext cx="731520" cy="73152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9659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4652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492240" y="3063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DISTRIBUTIONS, DISTRIBUTION_DETAILS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823960" y="2514600"/>
            <a:ext cx="320040" cy="320040"/>
          </a:xfrm>
          <a:prstGeom prst="rightArrow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235440" y="1554480"/>
            <a:ext cx="2377440" cy="2286000"/>
          </a:xfrm>
          <a:prstGeom prst="roundRect">
            <a:avLst>
              <a:gd name="adj" fmla="val 4000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058400" y="1783080"/>
            <a:ext cx="731520" cy="73152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196596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2688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Recipients receive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9372600" y="3063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RECIPIENTS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4251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457200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donors, food items, centers, volunteers and recipients in a normalised relational schema.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every donation and every distribution with quantities and dates.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operational questions with SQL: totals, rankings, unmatched stock, per-center staffing.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logic through a view and stored procedures.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schema and ER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269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CF"/>
            </a:solidFill>
            <a:prstDash val="solid"/>
          </a:ln>
        </p:spPr>
      </p:sp>
      <p:pic>
        <p:nvPicPr>
          <p:cNvPr id="5" name="Image 0" descr="/mnt/user-data/uploads/er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26948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92440" y="1417320"/>
            <a:ext cx="3547872" cy="4846320"/>
          </a:xfrm>
          <a:prstGeom prst="roundRect">
            <a:avLst>
              <a:gd name="adj" fmla="val 2577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321040" y="155448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groups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2011680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&amp; Donations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2322576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gives food, and how much each donor gives.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303580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Items &amp; Centers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3346704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expiry dates and where food is stored.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4059936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4370832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assigned to each collection center.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5084064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Recipients &amp; Distributions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5394960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receives food, and what is delivered.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SQL concepts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5E2C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EEF5EA"/>
          </a:solidFill>
          <a:ln w="12700">
            <a:solidFill>
              <a:srgbClr val="D5E2C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745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23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0720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engine. Database food_waste_redistribution with 8 tables.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15087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5E2C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737360"/>
            <a:ext cx="548640" cy="548640"/>
          </a:xfrm>
          <a:prstGeom prst="ellipse">
            <a:avLst/>
          </a:prstGeom>
          <a:solidFill>
            <a:srgbClr val="EEF5EA"/>
          </a:solidFill>
          <a:ln w="12700">
            <a:solidFill>
              <a:srgbClr val="D5E2C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8745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423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command-line client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80720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run every script and query, as shown in the mysql&gt; session output.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15087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5E2C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737360"/>
            <a:ext cx="548640" cy="548640"/>
          </a:xfrm>
          <a:prstGeom prst="ellipse">
            <a:avLst/>
          </a:prstGeom>
          <a:solidFill>
            <a:srgbClr val="EEF5EA"/>
          </a:solidFill>
          <a:ln w="12700">
            <a:solidFill>
              <a:srgbClr val="D5E2C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8745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2423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SQL: DDL, DML, DQL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280720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DROP for structure, INSERT for data, SELECT for analysis.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5E2C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EEF5EA"/>
          </a:solidFill>
          <a:ln w="12700">
            <a:solidFill>
              <a:srgbClr val="D5E2C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976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846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23036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KEY, FOREIGN KEY, NOT NULL and AUTO_INCREMENT keep data consistent.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343400" y="39319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5E2C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160520"/>
            <a:ext cx="548640" cy="548640"/>
          </a:xfrm>
          <a:prstGeom prst="ellipse">
            <a:avLst/>
          </a:prstGeom>
          <a:solidFill>
            <a:srgbClr val="EEF5EA"/>
          </a:solidFill>
          <a:ln w="12700">
            <a:solidFill>
              <a:srgbClr val="D5E2C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29768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72000" y="4846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modelling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523036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diagram in crow's foot notation guides the schema.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138160" y="39319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5E2C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160520"/>
            <a:ext cx="548640" cy="548640"/>
          </a:xfrm>
          <a:prstGeom prst="ellipse">
            <a:avLst/>
          </a:prstGeom>
          <a:solidFill>
            <a:srgbClr val="EEF5EA"/>
          </a:solidFill>
          <a:ln w="12700">
            <a:solidFill>
              <a:srgbClr val="D5E2C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29768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66760" y="4846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objects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366760" y="523036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VIEW for reporting and stored PROCEDURES with an input parameter.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14476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techniques covered: SELECT, WHERE, aggregate functions, INNER and LEFT JOIN, GROUP BY, HAVING, ORDER BY / LIMIT, subqueries, NOT IN.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PERFORMANCE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donors supply almost half of all food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E3EFDD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36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Bites Restaurant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11880" y="1709928"/>
            <a:ext cx="256032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11880" y="1709928"/>
            <a:ext cx="2560320" cy="14630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63640" y="1536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Units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828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24.0% share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304288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Annapurna Catering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670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11880" y="2551176"/>
            <a:ext cx="256032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11880" y="2551176"/>
            <a:ext cx="2560320" cy="1463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Units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6700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24.0% share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145536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218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Leaf Hotel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5112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11880" y="3392424"/>
            <a:ext cx="256032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11880" y="3392424"/>
            <a:ext cx="2133600" cy="1463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63640" y="3218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 Units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35112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20.0% share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986784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0599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Supermarket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3525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11880" y="4233672"/>
            <a:ext cx="256032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11880" y="4233672"/>
            <a:ext cx="1706880" cy="1463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63640" y="40599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Units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263640" y="43525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16.0% share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828032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49011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Care NGO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51937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11880" y="5074920"/>
            <a:ext cx="256032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11880" y="5074920"/>
            <a:ext cx="1706880" cy="1463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63640" y="49011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Units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263640" y="51937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16.0% share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092440" y="1463040"/>
            <a:ext cx="3547872" cy="4078224"/>
          </a:xfrm>
          <a:prstGeom prst="roundRect">
            <a:avLst>
              <a:gd name="adj" fmla="val 2577"/>
            </a:avLst>
          </a:prstGeom>
          <a:solidFill>
            <a:srgbClr val="12372A"/>
          </a:solidFill>
          <a:ln w="12700">
            <a:solidFill>
              <a:srgbClr val="12372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366760" y="1737360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48%</a:t>
            </a:r>
            <a:endParaRPr lang="en-US" sz="4400" dirty="0"/>
          </a:p>
        </p:txBody>
      </p:sp>
      <p:sp>
        <p:nvSpPr>
          <p:cNvPr id="41" name="Text 39"/>
          <p:cNvSpPr txBox="1"/>
          <p:nvPr/>
        </p:nvSpPr>
        <p:spPr>
          <a:xfrm>
            <a:off x="8366760" y="260604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donors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8366760" y="3154680"/>
            <a:ext cx="2999232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Bites Restaurant and Annapurna Catering together gave 600 of 1,250 units. The average donation is 156.25 units across 8 donations.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ITEM PERFORMANCE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Rice is the most donated item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11680" cy="2743200"/>
          </a:xfrm>
          <a:prstGeom prst="roundRect">
            <a:avLst>
              <a:gd name="adj" fmla="val 4545"/>
            </a:avLst>
          </a:prstGeom>
          <a:solidFill>
            <a:srgbClr val="E3EFDD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874520"/>
            <a:ext cx="548640" cy="5486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801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donated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00350" y="1645920"/>
            <a:ext cx="2011680" cy="2743200"/>
          </a:xfrm>
          <a:prstGeom prst="roundRect">
            <a:avLst>
              <a:gd name="adj" fmla="val 4545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31870" y="1874520"/>
            <a:ext cx="548640" cy="548640"/>
          </a:xfrm>
          <a:prstGeom prst="ellipse">
            <a:avLst/>
          </a:prstGeom>
          <a:solidFill>
            <a:srgbClr val="5B6B62"/>
          </a:solidFill>
          <a:ln w="12700">
            <a:solidFill>
              <a:srgbClr val="5B6B6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3187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89179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289179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89179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289179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donated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52060" y="1645920"/>
            <a:ext cx="2011680" cy="2743200"/>
          </a:xfrm>
          <a:prstGeom prst="roundRect">
            <a:avLst>
              <a:gd name="adj" fmla="val 4545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83580" y="1874520"/>
            <a:ext cx="548640" cy="548640"/>
          </a:xfrm>
          <a:prstGeom prst="ellipse">
            <a:avLst/>
          </a:prstGeom>
          <a:solidFill>
            <a:srgbClr val="5B6B62"/>
          </a:solidFill>
          <a:ln w="12700">
            <a:solidFill>
              <a:srgbClr val="5B6B6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835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14350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Wheat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14350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14350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514350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donated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03770" y="1645920"/>
            <a:ext cx="2011680" cy="2743200"/>
          </a:xfrm>
          <a:prstGeom prst="roundRect">
            <a:avLst>
              <a:gd name="adj" fmla="val 4545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35290" y="1874520"/>
            <a:ext cx="548640" cy="548640"/>
          </a:xfrm>
          <a:prstGeom prst="ellipse">
            <a:avLst/>
          </a:prstGeom>
          <a:solidFill>
            <a:srgbClr val="5B6B62"/>
          </a:solidFill>
          <a:ln w="12700">
            <a:solidFill>
              <a:srgbClr val="5B6B6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3529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39521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Biscuits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739521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Food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39521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3200" dirty="0"/>
          </a:p>
        </p:txBody>
      </p:sp>
      <p:sp>
        <p:nvSpPr>
          <p:cNvPr id="31" name="Text 29"/>
          <p:cNvSpPr txBox="1"/>
          <p:nvPr/>
        </p:nvSpPr>
        <p:spPr>
          <a:xfrm>
            <a:off x="739521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donated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555480" y="1645920"/>
            <a:ext cx="2011680" cy="2743200"/>
          </a:xfrm>
          <a:prstGeom prst="roundRect">
            <a:avLst>
              <a:gd name="adj" fmla="val 4545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87000" y="1874520"/>
            <a:ext cx="548640" cy="548640"/>
          </a:xfrm>
          <a:prstGeom prst="ellipse">
            <a:avLst/>
          </a:prstGeom>
          <a:solidFill>
            <a:srgbClr val="5B6B62"/>
          </a:solidFill>
          <a:ln w="12700">
            <a:solidFill>
              <a:srgbClr val="5B6B6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28700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964692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Fruits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964692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Food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64692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200" dirty="0"/>
          </a:p>
        </p:txBody>
      </p:sp>
      <p:sp>
        <p:nvSpPr>
          <p:cNvPr id="38" name="Text 36"/>
          <p:cNvSpPr txBox="1"/>
          <p:nvPr/>
        </p:nvSpPr>
        <p:spPr>
          <a:xfrm>
            <a:off x="964692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donated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475488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2372A"/>
          </a:solidFill>
          <a:ln w="12700">
            <a:solidFill>
              <a:srgbClr val="12372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2960" y="480060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alone is 40% of all donations (500 of 1,250 units), received from two donors. Vegetable Curry also had 100 units, tied with Fruits. Bread (80 units) was the least donated item.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Grains make up almost half of the stock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572000" cy="4663440"/>
          </a:xfrm>
          <a:prstGeom prst="roundRect">
            <a:avLst>
              <a:gd name="adj" fmla="val 2000"/>
            </a:avLst>
          </a:prstGeom>
          <a:solidFill>
            <a:srgbClr val="E3EFDD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CATEGORY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Grains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346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86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in stock, 44.4% of 1,800 total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4805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(500) and Wheat (300) are both stored at the Central Food Center.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40680" y="1463040"/>
            <a:ext cx="6199632" cy="658368"/>
          </a:xfrm>
          <a:prstGeom prst="roundRect">
            <a:avLst>
              <a:gd name="adj" fmla="val 11111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0" y="1527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18105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719072"/>
            <a:ext cx="182880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719072"/>
            <a:ext cx="571500" cy="1463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12680" y="1527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 units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12680" y="18105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13.9% share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40680" y="2240280"/>
            <a:ext cx="6199632" cy="658368"/>
          </a:xfrm>
          <a:prstGeom prst="roundRect">
            <a:avLst>
              <a:gd name="adj" fmla="val 11111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0" y="23042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Food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25877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0" y="2496312"/>
            <a:ext cx="182880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2496312"/>
            <a:ext cx="457200" cy="1463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12680" y="2304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units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012680" y="25877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11.1% share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40680" y="3017520"/>
            <a:ext cx="6199632" cy="658368"/>
          </a:xfrm>
          <a:prstGeom prst="roundRect">
            <a:avLst>
              <a:gd name="adj" fmla="val 11111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0" y="3081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Food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33649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Biscuits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46720" y="3273552"/>
            <a:ext cx="182880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0" y="3273552"/>
            <a:ext cx="411480" cy="1463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012680" y="3081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 units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012680" y="33649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10.0% share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40680" y="3794760"/>
            <a:ext cx="6199632" cy="658368"/>
          </a:xfrm>
          <a:prstGeom prst="roundRect">
            <a:avLst>
              <a:gd name="adj" fmla="val 11111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69280" y="3858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Cooked Food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0" y="41422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 Curry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46720" y="4050792"/>
            <a:ext cx="182880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0" y="4050792"/>
            <a:ext cx="342900" cy="1463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12680" y="3858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units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012680" y="41422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 share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40680" y="4572000"/>
            <a:ext cx="6199632" cy="658368"/>
          </a:xfrm>
          <a:prstGeom prst="roundRect">
            <a:avLst>
              <a:gd name="adj" fmla="val 11111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669280" y="46360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5669280" y="49194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046720" y="4828032"/>
            <a:ext cx="182880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46720" y="4828032"/>
            <a:ext cx="274320" cy="1463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012680" y="4636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units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10012680" y="49194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6.7% share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40680" y="5349240"/>
            <a:ext cx="6199632" cy="658368"/>
          </a:xfrm>
          <a:prstGeom prst="roundRect">
            <a:avLst>
              <a:gd name="adj" fmla="val 11111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669280" y="5413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5669280" y="56967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046720" y="5605272"/>
            <a:ext cx="182880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46720" y="5605272"/>
            <a:ext cx="228600" cy="1463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012680" y="5413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units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10012680" y="56967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5.6% share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CENTER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Food Center is 80% full while others have room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5836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463040"/>
            <a:ext cx="4233672" cy="914400"/>
          </a:xfrm>
          <a:prstGeom prst="roundRect">
            <a:avLst>
              <a:gd name="adj" fmla="val 8000"/>
            </a:avLst>
          </a:prstGeom>
          <a:solidFill>
            <a:srgbClr val="E3EFDD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5361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Food Center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635240" y="19019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80.0% used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601200" y="19019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volunteers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06640" y="2514600"/>
            <a:ext cx="4233672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35240" y="2587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 Food Center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2953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61.4% used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9601200" y="2953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volunteers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406640" y="3566160"/>
            <a:ext cx="4233672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635240" y="3639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Distribution Center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635240" y="40050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43.8% used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0" y="40050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volunteers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406640" y="4617720"/>
            <a:ext cx="4233672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635240" y="46908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Food Hub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635240" y="50566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36.7% used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9601200" y="50566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volunteer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406640" y="5760720"/>
            <a:ext cx="4233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Food Hub has the lowest staffing and the lowest use of its capacity.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Children's homes received the most food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E3EFDD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36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Children Center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Home, Anakapalle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11880" y="1709928"/>
            <a:ext cx="256032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11880" y="1709928"/>
            <a:ext cx="2560320" cy="14630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63640" y="1536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Units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828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25.0% share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304288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Families Association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670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Community, Visakhapatnam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11880" y="2551176"/>
            <a:ext cx="256032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11880" y="2551176"/>
            <a:ext cx="2418080" cy="1463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 Units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6700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23.6% share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145536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218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Hands Orphanage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5112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Orphanage, Visakhapatnam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11880" y="3392424"/>
            <a:ext cx="256032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11880" y="3392424"/>
            <a:ext cx="1991360" cy="1463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63640" y="3218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Units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35112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19.4% share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986784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0599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Old Age Home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3525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Age Home, Vizianagaram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11880" y="4233672"/>
            <a:ext cx="256032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11880" y="4233672"/>
            <a:ext cx="1991360" cy="1463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63640" y="40599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Units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263640" y="43525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19.4% share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828032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49011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Shelter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51937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Shelter, Gajuwaka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11880" y="5074920"/>
            <a:ext cx="2560320" cy="146304"/>
          </a:xfrm>
          <a:prstGeom prst="rect">
            <a:avLst/>
          </a:prstGeom>
          <a:solidFill>
            <a:srgbClr val="D5E2CF"/>
          </a:solidFill>
          <a:ln w="12700">
            <a:solidFill>
              <a:srgbClr val="D5E2C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11880" y="5074920"/>
            <a:ext cx="1280160" cy="14630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63640" y="49011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Units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263640" y="51937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 share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092440" y="1463040"/>
            <a:ext cx="3547872" cy="4078224"/>
          </a:xfrm>
          <a:prstGeom prst="roundRect">
            <a:avLst>
              <a:gd name="adj" fmla="val 2577"/>
            </a:avLst>
          </a:prstGeom>
          <a:solidFill>
            <a:srgbClr val="12372A"/>
          </a:solidFill>
          <a:ln w="12700">
            <a:solidFill>
              <a:srgbClr val="12372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366760" y="1737360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44.4%</a:t>
            </a:r>
            <a:endParaRPr lang="en-US" sz="4400" dirty="0"/>
          </a:p>
        </p:txBody>
      </p:sp>
      <p:sp>
        <p:nvSpPr>
          <p:cNvPr id="41" name="Text 39"/>
          <p:cNvSpPr txBox="1"/>
          <p:nvPr/>
        </p:nvSpPr>
        <p:spPr>
          <a:xfrm>
            <a:off x="8366760" y="260604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 to children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8366760" y="3154680"/>
            <a:ext cx="2999232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Children Center and Helping Hands Orphanage received 160 of the 360 units distributed. All 5 distributions are marked Completed.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EFFICIENCY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28.8% of donated food has been distributed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1,250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donated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463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distributed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41732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E8833A"/>
          </a:solidFill>
          <a:ln w="9525">
            <a:solidFill>
              <a:srgbClr val="E883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463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890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not yet distributed</a:t>
            </a:r>
            <a:endParaRPr lang="en-US" sz="13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48640" y="2743200"/>
          <a:ext cx="76809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8503920" y="2743200"/>
            <a:ext cx="3136392" cy="3520440"/>
          </a:xfrm>
          <a:prstGeom prst="roundRect">
            <a:avLst>
              <a:gd name="adj" fmla="val 2915"/>
            </a:avLst>
          </a:prstGeom>
          <a:solidFill>
            <a:srgbClr val="12372A"/>
          </a:solidFill>
          <a:ln w="12700">
            <a:solidFill>
              <a:srgbClr val="12372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73252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tells us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732520" y="33832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donated food item is distributed at a lower rate than it arrives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Rice: 150 of 500 units distributed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was never distributed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RISK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items expire within five days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EEF5EA"/>
          </a:solidFill>
          <a:ln w="19050">
            <a:solidFill>
              <a:srgbClr val="B23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2026-10-01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Milk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71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in stock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297180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3520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distributed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92424" y="155448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EEF5EA"/>
          </a:solidFill>
          <a:ln w="19050">
            <a:solidFill>
              <a:srgbClr val="E883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21024" y="1737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2026-10-02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21024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Vegetable Curry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3621024" y="2514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Cooked Food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21024" y="2971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3621024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in stock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809744" y="297180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4809744" y="3520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distributed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36208" y="155448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EEF5EA"/>
          </a:solidFill>
          <a:ln w="19050">
            <a:solidFill>
              <a:srgbClr val="E883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64808" y="1737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2026-10-03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64808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Bread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6464808" y="2514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64808" y="2971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464808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in stock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653528" y="297180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7653528" y="3520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distributed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79992" y="155448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EEF5EA"/>
          </a:solidFill>
          <a:ln w="19050">
            <a:solidFill>
              <a:srgbClr val="E883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08592" y="1737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2026-10-05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308592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Fruits</a:t>
            </a:r>
            <a:endParaRPr lang="en-US" sz="2100" dirty="0"/>
          </a:p>
        </p:txBody>
      </p:sp>
      <p:sp>
        <p:nvSpPr>
          <p:cNvPr id="31" name="Text 29"/>
          <p:cNvSpPr txBox="1"/>
          <p:nvPr/>
        </p:nvSpPr>
        <p:spPr>
          <a:xfrm>
            <a:off x="9308592" y="2514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Food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308592" y="2971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3000" dirty="0"/>
          </a:p>
        </p:txBody>
      </p:sp>
      <p:sp>
        <p:nvSpPr>
          <p:cNvPr id="33" name="Text 31"/>
          <p:cNvSpPr txBox="1"/>
          <p:nvPr/>
        </p:nvSpPr>
        <p:spPr>
          <a:xfrm>
            <a:off x="9308592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in stock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0497312" y="297180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3000" dirty="0"/>
          </a:p>
        </p:txBody>
      </p:sp>
      <p:sp>
        <p:nvSpPr>
          <p:cNvPr id="35" name="Text 33"/>
          <p:cNvSpPr txBox="1"/>
          <p:nvPr/>
        </p:nvSpPr>
        <p:spPr>
          <a:xfrm>
            <a:off x="10497312" y="3520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distributed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2372A"/>
          </a:solidFill>
          <a:ln w="12700">
            <a:solidFill>
              <a:srgbClr val="12372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2960" y="5120640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the 8 food items expire between 1 and 5 October 2026 (counted from 2026-10-01). The other four (Rice, Wheat, Dal, Biscuits) last until 15 Oct 2026 or later. Expiry-first distribution is the clearest improvement.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EXECUTION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analytical 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9339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LEVEL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and aggregates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118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with WHERE filters, and SUM, AVG, COUNT, MAX and MIN for totals, averages and extremes.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43400" y="155448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1828800"/>
            <a:ext cx="640080" cy="64008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199339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772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LEVEL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Joins and grouping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36118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and LEFT JOIN across 2 to 5 tables, with GROUP BY, HAVING, ORDER BY and LIMIT for rankings.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138160" y="155448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E3EFDD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12480" y="1828800"/>
            <a:ext cx="640080" cy="64008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199339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1248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LEVEL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41248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Subqueries and views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8412480" y="36118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subqueries, NOT IN checks, a reporting VIEW and stored procedures with parameters.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statements in total: 30 queries (including 1 view) and 2 stored procedures.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STILL NEEDS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Gaps found in the current version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745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37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stock updates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FOOD_ITEMS.quantity is not reduced when food is distributed. Triggers or transactions should keep stock in sync.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5087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737360"/>
            <a:ext cx="548640" cy="54864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8745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1737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Expiry alerts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42316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query or scheduled event flags items close to expiry, such as Milk expiring 2026-10-01.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5087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6760" y="1737360"/>
            <a:ext cx="548640" cy="54864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8745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52560" y="1737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Requests and matching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242316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Recipients cannot raise requests, and nothing matches surplus to need or priority.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976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63040" y="41605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Pickup and quality checks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8463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records of who collected food or whether it passed a safety check.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43400" y="39319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2000" y="4160520"/>
            <a:ext cx="548640" cy="54864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29768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57800" y="41605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integrity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48463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CHECK constraints, lookup tables for status and category, units of measure, NOT NULL rules and indexes.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138160" y="39319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66760" y="4160520"/>
            <a:ext cx="548640" cy="54864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29768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52560" y="41605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and audit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366760" y="48463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 roles with GRANT permissions and an audit log of changes.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three-phase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4617720"/>
          </a:xfrm>
          <a:prstGeom prst="roundRect">
            <a:avLst>
              <a:gd name="adj" fmla="val 2597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737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 the database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2971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to update stock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and CHECK constraints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expiry-alert event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REQUESTS, PICKUP, VERIFICATION and EXPIRY tables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3520440" cy="4617720"/>
          </a:xfrm>
          <a:prstGeom prst="roundRect">
            <a:avLst>
              <a:gd name="adj" fmla="val 2597"/>
            </a:avLst>
          </a:prstGeom>
          <a:solidFill>
            <a:srgbClr val="E3EFDD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737360"/>
            <a:ext cx="640080" cy="64008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737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application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697480"/>
            <a:ext cx="2971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and mobile app with a REST API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or WhatsApp notifications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in Power BI or Tableau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 for donors, NGOs, volunteers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520440" cy="4617720"/>
          </a:xfrm>
          <a:prstGeom prst="roundRect">
            <a:avLst>
              <a:gd name="adj" fmla="val 2597"/>
            </a:avLst>
          </a:prstGeom>
          <a:solidFill>
            <a:srgbClr val="EEF5EA"/>
          </a:solidFill>
          <a:ln w="9525">
            <a:solidFill>
              <a:srgbClr val="D5E2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1737360"/>
            <a:ext cx="640080" cy="64008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9189720" y="1737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intelligence and scale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697480"/>
            <a:ext cx="2971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routing for pickups (LOCATIONS lat/long)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with machine learning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cold-chain temperature tracking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QR-code verification; multi-city cloud deployment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OUTLOOK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5E2C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9339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Expiry-first distribution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576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Milk, Vegetable Curry, Bread and Fruits out first, and add an automatic alert for items close to expiry.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400" y="155448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5E2C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828800"/>
            <a:ext cx="640080" cy="64008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199339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the centers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6576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stock from the Central Food Center (80% full) towards North and Community Food Hub, and add volunteers at the Hub.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38160" y="155448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5E2C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1828800"/>
            <a:ext cx="640080" cy="64008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199339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 the distribution rate</a:t>
            </a:r>
            <a:endParaRPr lang="en-US" sz="21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6576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28.8% of donations reach recipients. Add more recipients and regular delivery schedules to close the 890-unit gap.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Redistribution System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3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691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8-table MySQL database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0848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to recipients, fully linked with primary and foreign keys.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548640" cy="54864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880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insights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27355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Donor, food, center and recipient analysis shows where food is donated, stored, delivered and at risk of expiring.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548640" cy="54864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069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path forward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4622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triggers, expiry alerts, requests, pickup and verification would make it a production-ready network.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669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Waste Redistribution System</dc:title>
  <dc:subject>PptxGenJS Presentation</dc:subject>
  <dc:creator>PptxGenJS</dc:creator>
  <cp:lastModifiedBy>PptxGenJS</cp:lastModifiedBy>
  <cp:revision>1</cp:revision>
  <dcterms:created xsi:type="dcterms:W3CDTF">2026-10-01T09:28:04Z</dcterms:created>
  <dcterms:modified xsi:type="dcterms:W3CDTF">2026-10-01T09:28:04Z</dcterms:modified>
</cp:coreProperties>
</file>